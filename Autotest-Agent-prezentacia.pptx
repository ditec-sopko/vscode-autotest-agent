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3AD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09CC4"/>
                </a:solidFill>
                <a:latin typeface="Segoe UI"/>
              </a:rPr>
              <a:t>VS CODE  ·  GITHUB COPILOT  · 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6000" b="1">
                <a:solidFill>
                  <a:srgbClr val="F2F6FB"/>
                </a:solidFill>
                <a:latin typeface="Segoe UI"/>
              </a:rPr>
              <a:t>Autotest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0">
                <a:solidFill>
                  <a:srgbClr val="9FB2C9"/>
                </a:solidFill>
                <a:latin typeface="Segoe UI"/>
              </a:rPr>
              <a:t>AI agent, ktorý overí opravu bugu alebo test scenár tak, že </a:t>
            </a:r>
            <a:r>
              <a:rPr sz="2100" b="1">
                <a:solidFill>
                  <a:srgbClr val="3AD0B0"/>
                </a:solidFill>
                <a:latin typeface="Segoe UI"/>
              </a:rPr>
              <a:t>priamo ovláda aplikáciu</a:t>
            </a:r>
            <a:r>
              <a:rPr sz="2100" b="0">
                <a:solidFill>
                  <a:srgbClr val="9FB2C9"/>
                </a:solidFill>
                <a:latin typeface="Segoe UI"/>
              </a:rPr>
              <a:t> — web cez Playwright MCP, desktop cez Terminator MCP.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920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F2F6FB"/>
                </a:solidFill>
                <a:latin typeface="Segoe UI"/>
              </a:rPr>
              <a:t>Žiadne generované test skripty. Žiadne ladenie selektorov. Scenár reálne odklikne a vizuálne overí Copilot agent mode.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9FB2C9"/>
                </a:solidFill>
                <a:latin typeface="Segoe UI"/>
              </a:rPr>
              <a:t>Autotest Agent  ·  v0.7.1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9FB2C9"/>
                </a:solidFill>
                <a:latin typeface="Segoe U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868680"/>
          </a:xfrm>
          <a:prstGeom prst="rect">
            <a:avLst/>
          </a:prstGeom>
          <a:solidFill>
            <a:srgbClr val="00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09CC4"/>
                </a:solidFill>
                <a:latin typeface="Segoe UI"/>
              </a:rPr>
              <a:t>PROBLÉM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2F6FB"/>
                </a:solidFill>
                <a:latin typeface="Segoe UI"/>
              </a:rPr>
              <a:t>Prečo klasické automatizované testy bolia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009CC4"/>
                </a:solidFill>
                <a:latin typeface="Segoe UI"/>
              </a:rPr>
              <a:t>▸  </a:t>
            </a:r>
            <a:r>
              <a:rPr sz="1700" b="1">
                <a:solidFill>
                  <a:srgbClr val="F2F6FB"/>
                </a:solidFill>
                <a:latin typeface="Segoe UI"/>
              </a:rPr>
              <a:t>Krehké skripty. </a:t>
            </a:r>
            <a:r>
              <a:rPr sz="1700" b="0">
                <a:solidFill>
                  <a:srgbClr val="9FB2C9"/>
                </a:solidFill>
                <a:latin typeface="Segoe UI"/>
              </a:rPr>
              <a:t>Selektory sa menia, testy padajú aj keď appka funguje.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009CC4"/>
                </a:solidFill>
                <a:latin typeface="Segoe UI"/>
              </a:rPr>
              <a:t>▸  </a:t>
            </a:r>
            <a:r>
              <a:rPr sz="1700" b="1">
                <a:solidFill>
                  <a:srgbClr val="F2F6FB"/>
                </a:solidFill>
                <a:latin typeface="Segoe UI"/>
              </a:rPr>
              <a:t>Drahá údržba. </a:t>
            </a:r>
            <a:r>
              <a:rPr sz="1700" b="0">
                <a:solidFill>
                  <a:srgbClr val="9FB2C9"/>
                </a:solidFill>
                <a:latin typeface="Segoe UI"/>
              </a:rPr>
              <a:t>Viac času ide na opravu testov než na samotné testovanie.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009CC4"/>
                </a:solidFill>
                <a:latin typeface="Segoe UI"/>
              </a:rPr>
              <a:t>▸  </a:t>
            </a:r>
            <a:r>
              <a:rPr sz="1700" b="1">
                <a:solidFill>
                  <a:srgbClr val="F2F6FB"/>
                </a:solidFill>
                <a:latin typeface="Segoe UI"/>
              </a:rPr>
              <a:t>Pomalé písanie. </a:t>
            </a:r>
            <a:r>
              <a:rPr sz="1700" b="0">
                <a:solidFill>
                  <a:srgbClr val="9FB2C9"/>
                </a:solidFill>
                <a:latin typeface="Segoe UI"/>
              </a:rPr>
              <a:t>Každý scenár treba nakódiť, odladiť a udržiavať.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009CC4"/>
                </a:solidFill>
                <a:latin typeface="Segoe UI"/>
              </a:rPr>
              <a:t>▸  </a:t>
            </a:r>
            <a:r>
              <a:rPr sz="1700" b="1">
                <a:solidFill>
                  <a:srgbClr val="F2F6FB"/>
                </a:solidFill>
                <a:latin typeface="Segoe UI"/>
              </a:rPr>
              <a:t>Bez vizuálnej kontroly. </a:t>
            </a:r>
            <a:r>
              <a:rPr sz="1700" b="0">
                <a:solidFill>
                  <a:srgbClr val="9FB2C9"/>
                </a:solidFill>
                <a:latin typeface="Segoe UI"/>
              </a:rPr>
              <a:t>Assert na DOM nezachytí, že UI vyzerá zle.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009CC4"/>
                </a:solidFill>
                <a:latin typeface="Segoe UI"/>
              </a:rPr>
              <a:t>▸  </a:t>
            </a:r>
            <a:r>
              <a:rPr sz="1700" b="1">
                <a:solidFill>
                  <a:srgbClr val="F2F6FB"/>
                </a:solidFill>
                <a:latin typeface="Segoe UI"/>
              </a:rPr>
              <a:t>Ručné pretestovanie bugov. </a:t>
            </a:r>
            <a:r>
              <a:rPr sz="1700" b="0">
                <a:solidFill>
                  <a:srgbClr val="9FB2C9"/>
                </a:solidFill>
                <a:latin typeface="Segoe UI"/>
              </a:rPr>
              <a:t>Tester klikne scenár znova a znova manuálne.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33095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09CC4"/>
                </a:solidFill>
                <a:latin typeface="Segoe UI"/>
              </a:rPr>
              <a:t>Cieľ: </a:t>
            </a:r>
            <a:r>
              <a:rPr sz="1600" b="0">
                <a:solidFill>
                  <a:srgbClr val="F2F6FB"/>
                </a:solidFill>
                <a:latin typeface="Segoe UI"/>
              </a:rPr>
              <a:t>ušetriť čas testerom aj programátorom — namiesto písania a opravovania krehkých testov necháš agenta scenár reálne odklikať a vizuálne overiť.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9FB2C9"/>
                </a:solidFill>
                <a:latin typeface="Segoe UI"/>
              </a:rPr>
              <a:t>Autotest Agent  ·  v0.7.1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9FB2C9"/>
                </a:solidFill>
                <a:latin typeface="Segoe U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868680"/>
          </a:xfrm>
          <a:prstGeom prst="rect">
            <a:avLst/>
          </a:prstGeom>
          <a:solidFill>
            <a:srgbClr val="00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09CC4"/>
                </a:solidFill>
                <a:latin typeface="Segoe UI"/>
              </a:rPr>
              <a:t>RIEŠENIE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2F6FB"/>
                </a:solidFill>
                <a:latin typeface="Segoe UI"/>
              </a:rPr>
              <a:t>Agent, ktorý appku naozaj používa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0">
                <a:solidFill>
                  <a:srgbClr val="9FB2C9"/>
                </a:solidFill>
                <a:latin typeface="Segoe UI"/>
              </a:rPr>
              <a:t>Tester alebo dev zadá scenár (manuálne alebo z TFS bugu). Agent ho </a:t>
            </a:r>
            <a:r>
              <a:rPr sz="1700" b="1">
                <a:solidFill>
                  <a:srgbClr val="3AD0B0"/>
                </a:solidFill>
                <a:latin typeface="Segoe UI"/>
              </a:rPr>
              <a:t>vykoná v Copilot agent mode cez MCP nástroje</a:t>
            </a:r>
            <a:r>
              <a:rPr sz="1700" b="0">
                <a:solidFill>
                  <a:srgbClr val="9FB2C9"/>
                </a:solidFill>
                <a:latin typeface="Segoe UI"/>
              </a:rPr>
              <a:t> a zapíše jediný výsledok so screenshotmi krok-po-kroku.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697480"/>
            <a:ext cx="3429000" cy="2651760"/>
          </a:xfrm>
          <a:prstGeom prst="rect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697480"/>
            <a:ext cx="3429000" cy="82296"/>
          </a:xfrm>
          <a:prstGeom prst="rect">
            <a:avLst/>
          </a:prstGeom>
          <a:solidFill>
            <a:srgbClr val="00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98648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2F6FB"/>
                </a:solidFill>
                <a:latin typeface="Segoe UI"/>
              </a:rPr>
              <a:t>Zadaj scenár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355848"/>
            <a:ext cx="2971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Manuálny popis  → test_NNN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TFS bug  → bug_&lt;id&gt;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LLM vygeneruje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test_scenario.md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(editovateľný)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697480"/>
            <a:ext cx="3429000" cy="2651760"/>
          </a:xfrm>
          <a:prstGeom prst="rect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697480"/>
            <a:ext cx="3429000" cy="82296"/>
          </a:xfrm>
          <a:prstGeom prst="rect">
            <a:avLst/>
          </a:prstGeom>
          <a:solidFill>
            <a:srgbClr val="3AD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898648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2F6FB"/>
                </a:solidFill>
                <a:latin typeface="Segoe UI"/>
              </a:rPr>
              <a:t>Agent vykoná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355848"/>
            <a:ext cx="2971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Playwright / Terminator MCP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klika, píše, screenshotuje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auto-approve nástrojov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pýta sa len na login /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chýbajúci údaj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2697480"/>
            <a:ext cx="3429000" cy="2651760"/>
          </a:xfrm>
          <a:prstGeom prst="rect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2697480"/>
            <a:ext cx="3429000" cy="82296"/>
          </a:xfrm>
          <a:prstGeom prst="rect">
            <a:avLst/>
          </a:prstGeom>
          <a:solidFill>
            <a:srgbClr val="E6B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2898648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2F6FB"/>
                </a:solidFill>
                <a:latin typeface="Segoe UI"/>
              </a:rPr>
              <a:t>Jeden výsledok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3355848"/>
            <a:ext cx="2971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result.md → VERDIKT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PASSED / FAILED + zhrnutie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steps/ screenshoty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transcript.md akcií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Dashboard +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9FB2C9"/>
                </a:solidFill>
                <a:latin typeface="Segoe UI"/>
              </a:rPr>
              <a:t>Autotest Agent  ·  v0.7.1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9FB2C9"/>
                </a:solidFill>
                <a:latin typeface="Segoe U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868680"/>
          </a:xfrm>
          <a:prstGeom prst="rect">
            <a:avLst/>
          </a:prstGeom>
          <a:solidFill>
            <a:srgbClr val="00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09CC4"/>
                </a:solidFill>
                <a:latin typeface="Segoe UI"/>
              </a:rPr>
              <a:t>VLASTNOSTI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2F6FB"/>
                </a:solidFill>
                <a:latin typeface="Segoe UI"/>
              </a:rPr>
              <a:t>Čo Autotest Agent ponúka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3429000" cy="1783080"/>
          </a:xfrm>
          <a:prstGeom prst="rect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91640"/>
            <a:ext cx="3429000" cy="82296"/>
          </a:xfrm>
          <a:prstGeom prst="rect">
            <a:avLst/>
          </a:prstGeom>
          <a:solidFill>
            <a:srgbClr val="00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92808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2F6FB"/>
                </a:solidFill>
                <a:latin typeface="Segoe UI"/>
              </a:rPr>
              <a:t>🧭  Dashboard so sprievodcom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50008"/>
            <a:ext cx="2971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Inicializácia v krokoch: aplikácia →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prihlásenie → TFS. Prehľad testov a reportov.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691640"/>
            <a:ext cx="3429000" cy="1783080"/>
          </a:xfrm>
          <a:prstGeom prst="rect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91640"/>
            <a:ext cx="3429000" cy="82296"/>
          </a:xfrm>
          <a:prstGeom prst="rect">
            <a:avLst/>
          </a:prstGeom>
          <a:solidFill>
            <a:srgbClr val="3AD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92808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2F6FB"/>
                </a:solidFill>
                <a:latin typeface="Segoe UI"/>
              </a:rPr>
              <a:t>🌐  Web  +  🖥️  Desktop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50008"/>
            <a:ext cx="2971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Jednotný tok cez MCP servery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Playwright (web) a Terminator (desktop).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691640"/>
            <a:ext cx="3429000" cy="1783080"/>
          </a:xfrm>
          <a:prstGeom prst="rect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0" y="1691640"/>
            <a:ext cx="3429000" cy="82296"/>
          </a:xfrm>
          <a:prstGeom prst="rect">
            <a:avLst/>
          </a:prstGeom>
          <a:solidFill>
            <a:srgbClr val="00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892808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2F6FB"/>
                </a:solidFill>
                <a:latin typeface="Segoe UI"/>
              </a:rPr>
              <a:t>🤖  Copilot agent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350008"/>
            <a:ext cx="2971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Agent klika, píše a screenshotuje sám.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Pýta sa len na login alebo chýbajúci údaj.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639312"/>
            <a:ext cx="3429000" cy="1783080"/>
          </a:xfrm>
          <a:prstGeom prst="rect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639312"/>
            <a:ext cx="3429000" cy="82296"/>
          </a:xfrm>
          <a:prstGeom prst="rect">
            <a:avLst/>
          </a:prstGeom>
          <a:solidFill>
            <a:srgbClr val="3AD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840480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2F6FB"/>
                </a:solidFill>
                <a:latin typeface="Segoe UI"/>
              </a:rPr>
              <a:t>🔗  TFS / Azure DevOps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297680"/>
            <a:ext cx="2971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Načíta pridelené work items a vytvorí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test priamo z bugu.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3639312"/>
            <a:ext cx="3429000" cy="1783080"/>
          </a:xfrm>
          <a:prstGeom prst="rect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639312"/>
            <a:ext cx="3429000" cy="82296"/>
          </a:xfrm>
          <a:prstGeom prst="rect">
            <a:avLst/>
          </a:prstGeom>
          <a:solidFill>
            <a:srgbClr val="00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840480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2F6FB"/>
                </a:solidFill>
                <a:latin typeface="Segoe UI"/>
              </a:rPr>
              <a:t>📊  Pekný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297680"/>
            <a:ext cx="2971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Verdikt PASSED/FAILED + zhrnutie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+ screenshot každého kroku.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3639312"/>
            <a:ext cx="3429000" cy="1783080"/>
          </a:xfrm>
          <a:prstGeom prst="rect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63840" y="3639312"/>
            <a:ext cx="3429000" cy="82296"/>
          </a:xfrm>
          <a:prstGeom prst="rect">
            <a:avLst/>
          </a:prstGeom>
          <a:solidFill>
            <a:srgbClr val="3AD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3840480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2F6FB"/>
                </a:solidFill>
                <a:latin typeface="Segoe UI"/>
              </a:rPr>
              <a:t>♻️  Auto-refresh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4297680"/>
            <a:ext cx="2971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Dashboard sa po dokončení testu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sám obnoví; indikátor „beží…".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9FB2C9"/>
                </a:solidFill>
                <a:latin typeface="Segoe UI"/>
              </a:rPr>
              <a:t>Autotest Agent  ·  v0.7.1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9FB2C9"/>
                </a:solidFill>
                <a:latin typeface="Segoe U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868680"/>
          </a:xfrm>
          <a:prstGeom prst="rect">
            <a:avLst/>
          </a:prstGeom>
          <a:solidFill>
            <a:srgbClr val="00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09CC4"/>
                </a:solidFill>
                <a:latin typeface="Segoe UI"/>
              </a:rPr>
              <a:t>AKO TO FUNGUJE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2F6FB"/>
                </a:solidFill>
                <a:latin typeface="Segoe UI"/>
              </a:rPr>
              <a:t>Tok od scenára po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566928" cy="566928"/>
          </a:xfrm>
          <a:prstGeom prst="rect">
            <a:avLst/>
          </a:prstGeom>
          <a:solidFill>
            <a:srgbClr val="00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2F6FB"/>
                </a:solidFill>
                <a:latin typeface="Segoe U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920240"/>
            <a:ext cx="9875520" cy="566928"/>
          </a:xfrm>
          <a:prstGeom prst="rect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1920240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2F6FB"/>
                </a:solidFill>
                <a:latin typeface="Segoe UI"/>
              </a:rPr>
              <a:t>Používateľ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65836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9FB2C9"/>
                </a:solidFill>
                <a:latin typeface="Segoe UI"/>
              </a:rPr>
              <a:t>Dashboard alebo @autotest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542032"/>
            <a:ext cx="566928" cy="566928"/>
          </a:xfrm>
          <a:prstGeom prst="rect">
            <a:avLst/>
          </a:prstGeom>
          <a:solidFill>
            <a:srgbClr val="00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42032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2F6FB"/>
                </a:solidFill>
                <a:latin typeface="Segoe U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2542032"/>
            <a:ext cx="9875520" cy="566928"/>
          </a:xfrm>
          <a:prstGeom prst="rect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91640" y="2542032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2F6FB"/>
                </a:solidFill>
                <a:latin typeface="Segoe UI"/>
              </a:rPr>
              <a:t>Scenár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42032"/>
            <a:ext cx="65836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9FB2C9"/>
                </a:solidFill>
                <a:latin typeface="Segoe UI"/>
              </a:rPr>
              <a:t>test_scenario.md (LLM z popisu)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163824"/>
            <a:ext cx="566928" cy="566928"/>
          </a:xfrm>
          <a:prstGeom prst="rect">
            <a:avLst/>
          </a:prstGeom>
          <a:solidFill>
            <a:srgbClr val="00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163824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2F6FB"/>
                </a:solidFill>
                <a:latin typeface="Segoe U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3163824"/>
            <a:ext cx="9875520" cy="566928"/>
          </a:xfrm>
          <a:prstGeom prst="rect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3163824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2F6FB"/>
                </a:solidFill>
                <a:latin typeface="Segoe UI"/>
              </a:rPr>
              <a:t>Delegácia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163824"/>
            <a:ext cx="65836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9FB2C9"/>
                </a:solidFill>
                <a:latin typeface="Segoe UI"/>
              </a:rPr>
              <a:t>Copilot agent mode + mcp.json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785616"/>
            <a:ext cx="566928" cy="566928"/>
          </a:xfrm>
          <a:prstGeom prst="rect">
            <a:avLst/>
          </a:prstGeom>
          <a:solidFill>
            <a:srgbClr val="00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78561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2F6FB"/>
                </a:solidFill>
                <a:latin typeface="Segoe U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63040" y="3785616"/>
            <a:ext cx="9875520" cy="566928"/>
          </a:xfrm>
          <a:prstGeom prst="rect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91640" y="3785616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2F6FB"/>
                </a:solidFill>
                <a:latin typeface="Segoe UI"/>
              </a:rPr>
              <a:t>MCP server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785616"/>
            <a:ext cx="65836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9FB2C9"/>
                </a:solidFill>
                <a:latin typeface="Segoe UI"/>
              </a:rPr>
              <a:t>Playwright / Terminator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407408"/>
            <a:ext cx="566928" cy="566928"/>
          </a:xfrm>
          <a:prstGeom prst="rect">
            <a:avLst/>
          </a:prstGeom>
          <a:solidFill>
            <a:srgbClr val="00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4074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2F6FB"/>
                </a:solidFill>
                <a:latin typeface="Segoe UI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63040" y="4407408"/>
            <a:ext cx="9875520" cy="566928"/>
          </a:xfrm>
          <a:prstGeom prst="rect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91640" y="4407408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2F6FB"/>
                </a:solidFill>
                <a:latin typeface="Segoe UI"/>
              </a:rPr>
              <a:t>Vykonanie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407408"/>
            <a:ext cx="65836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9FB2C9"/>
                </a:solidFill>
                <a:latin typeface="Segoe UI"/>
              </a:rPr>
              <a:t>agent klika v aplikácii, steps/*.png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029200"/>
            <a:ext cx="566928" cy="566928"/>
          </a:xfrm>
          <a:prstGeom prst="rect">
            <a:avLst/>
          </a:prstGeom>
          <a:solidFill>
            <a:srgbClr val="00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02920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2F6FB"/>
                </a:solidFill>
                <a:latin typeface="Segoe UI"/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63040" y="5029200"/>
            <a:ext cx="9875520" cy="566928"/>
          </a:xfrm>
          <a:prstGeom prst="rect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91640" y="5029200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2F6FB"/>
                </a:solidFill>
                <a:latin typeface="Segoe UI"/>
              </a:rPr>
              <a:t>Výsledok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5029200"/>
            <a:ext cx="65836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9FB2C9"/>
                </a:solidFill>
                <a:latin typeface="Segoe UI"/>
              </a:rPr>
              <a:t>result.md + transcript.md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5650992"/>
            <a:ext cx="566928" cy="566928"/>
          </a:xfrm>
          <a:prstGeom prst="rect">
            <a:avLst/>
          </a:prstGeom>
          <a:solidFill>
            <a:srgbClr val="00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650992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2F6FB"/>
                </a:solidFill>
                <a:latin typeface="Segoe UI"/>
              </a:rPr>
              <a:t>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63040" y="5650992"/>
            <a:ext cx="9875520" cy="566928"/>
          </a:xfrm>
          <a:prstGeom prst="rect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91640" y="5650992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2F6FB"/>
                </a:solidFill>
                <a:latin typeface="Segoe UI"/>
              </a:rPr>
              <a:t>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650992"/>
            <a:ext cx="65836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9FB2C9"/>
                </a:solidFill>
                <a:latin typeface="Segoe UI"/>
              </a:rPr>
              <a:t>verdikt, history, report panel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9FB2C9"/>
                </a:solidFill>
                <a:latin typeface="Segoe UI"/>
              </a:rPr>
              <a:t>Autotest Agent  ·  v0.7.1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9FB2C9"/>
                </a:solidFill>
                <a:latin typeface="Segoe U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868680"/>
          </a:xfrm>
          <a:prstGeom prst="rect">
            <a:avLst/>
          </a:prstGeom>
          <a:solidFill>
            <a:srgbClr val="00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09CC4"/>
                </a:solidFill>
                <a:latin typeface="Segoe UI"/>
              </a:rPr>
              <a:t>ARCHITEKTÚRA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2F6FB"/>
                </a:solidFill>
                <a:latin typeface="Segoe UI"/>
              </a:rPr>
              <a:t>Tenké, jasne oddelené moduly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5257800" cy="841248"/>
          </a:xfrm>
          <a:prstGeom prst="rect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82296" cy="841248"/>
          </a:xfrm>
          <a:prstGeom prst="rect">
            <a:avLst/>
          </a:prstGeom>
          <a:solidFill>
            <a:srgbClr val="3AD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92808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09CC4"/>
                </a:solidFill>
                <a:latin typeface="Segoe UI"/>
              </a:rPr>
              <a:t>extension.ts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221992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activate, chat participant + commands, tenký dispatcher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5257800" cy="841248"/>
          </a:xfrm>
          <a:prstGeom prst="rect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82296" cy="841248"/>
          </a:xfrm>
          <a:prstGeom prst="rect">
            <a:avLst/>
          </a:prstGeom>
          <a:solidFill>
            <a:srgbClr val="3AD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92808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09CC4"/>
                </a:solidFill>
                <a:latin typeface="Segoe UI"/>
              </a:rPr>
              <a:t>setup.ts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221992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init wizard (QuickPick), menu nastavení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734056"/>
            <a:ext cx="5257800" cy="841248"/>
          </a:xfrm>
          <a:prstGeom prst="rect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2734056"/>
            <a:ext cx="82296" cy="841248"/>
          </a:xfrm>
          <a:prstGeom prst="rect">
            <a:avLst/>
          </a:prstGeom>
          <a:solidFill>
            <a:srgbClr val="3AD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843784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09CC4"/>
                </a:solidFill>
                <a:latin typeface="Segoe UI"/>
              </a:rPr>
              <a:t>runner.ts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172968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generateScenario + delegateToAgentMode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734056"/>
            <a:ext cx="5257800" cy="841248"/>
          </a:xfrm>
          <a:prstGeom prst="rect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734056"/>
            <a:ext cx="82296" cy="841248"/>
          </a:xfrm>
          <a:prstGeom prst="rect">
            <a:avLst/>
          </a:prstGeom>
          <a:solidFill>
            <a:srgbClr val="3AD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843784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09CC4"/>
                </a:solidFill>
                <a:latin typeface="Segoe UI"/>
              </a:rPr>
              <a:t>mcp.ts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172968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zápis mcp.json + settings.json (auto-approve)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685032"/>
            <a:ext cx="5257800" cy="841248"/>
          </a:xfrm>
          <a:prstGeom prst="rect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3685032"/>
            <a:ext cx="82296" cy="841248"/>
          </a:xfrm>
          <a:prstGeom prst="rect">
            <a:avLst/>
          </a:prstGeom>
          <a:solidFill>
            <a:srgbClr val="3AD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3794760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09CC4"/>
                </a:solidFill>
                <a:latin typeface="Segoe UI"/>
              </a:rPr>
              <a:t>dashboard.ts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123944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webview view + report panel + watchers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685032"/>
            <a:ext cx="5257800" cy="841248"/>
          </a:xfrm>
          <a:prstGeom prst="rect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685032"/>
            <a:ext cx="82296" cy="841248"/>
          </a:xfrm>
          <a:prstGeom prst="rect">
            <a:avLst/>
          </a:prstGeom>
          <a:solidFill>
            <a:srgbClr val="3AD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794760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09CC4"/>
                </a:solidFill>
                <a:latin typeface="Segoe UI"/>
              </a:rPr>
              <a:t>tfs-client.ts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123944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import bugov z TFS / Azure DevOps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4636008"/>
            <a:ext cx="5257800" cy="841248"/>
          </a:xfrm>
          <a:prstGeom prst="rect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4636008"/>
            <a:ext cx="82296" cy="841248"/>
          </a:xfrm>
          <a:prstGeom prst="rect">
            <a:avLst/>
          </a:prstGeom>
          <a:solidFill>
            <a:srgbClr val="3AD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745736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09CC4"/>
                </a:solidFill>
                <a:latin typeface="Segoe UI"/>
              </a:rPr>
              <a:t>config.ts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74920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konfigurácia projektu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636008"/>
            <a:ext cx="5257800" cy="841248"/>
          </a:xfrm>
          <a:prstGeom prst="rect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636008"/>
            <a:ext cx="82296" cy="841248"/>
          </a:xfrm>
          <a:prstGeom prst="rect">
            <a:avLst/>
          </a:prstGeom>
          <a:solidFill>
            <a:srgbClr val="3AD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745736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09CC4"/>
                </a:solidFill>
                <a:latin typeface="Segoe UI"/>
              </a:rPr>
              <a:t>report.ts / util.ts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074920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render reportu, pomocné funkcie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9FB2C9"/>
                </a:solidFill>
                <a:latin typeface="Segoe UI"/>
              </a:rPr>
              <a:t>Autotest Agent  ·  v0.7.1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9FB2C9"/>
                </a:solidFill>
                <a:latin typeface="Segoe U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868680"/>
          </a:xfrm>
          <a:prstGeom prst="rect">
            <a:avLst/>
          </a:prstGeom>
          <a:solidFill>
            <a:srgbClr val="00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09CC4"/>
                </a:solidFill>
                <a:latin typeface="Segoe UI"/>
              </a:rPr>
              <a:t>PLATFORMY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2F6FB"/>
                </a:solidFill>
                <a:latin typeface="Segoe UI"/>
              </a:rPr>
              <a:t>Web aj desktop cez jeden tok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5120640" cy="3566160"/>
          </a:xfrm>
          <a:prstGeom prst="rect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5120640" cy="82296"/>
          </a:xfrm>
          <a:prstGeom prst="rect">
            <a:avLst/>
          </a:prstGeom>
          <a:solidFill>
            <a:srgbClr val="00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29968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2F6FB"/>
                </a:solidFill>
                <a:latin typeface="Segoe UI"/>
              </a:rPr>
              <a:t>🌐  Web — Playwright MCP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87168"/>
            <a:ext cx="46634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Ovládanie prehliadača cez Playwright MCP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od Microsoftu.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• klikanie, vypĺňanie formulárov, navigácia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• screenshot každého kroku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• viditeľný alebo headless režim (@autotest debug)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• výstupy v autotest/_mcp_output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828800"/>
            <a:ext cx="5120640" cy="3566160"/>
          </a:xfrm>
          <a:prstGeom prst="rect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5120640" cy="82296"/>
          </a:xfrm>
          <a:prstGeom prst="rect">
            <a:avLst/>
          </a:prstGeom>
          <a:solidFill>
            <a:srgbClr val="3AD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029968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2F6FB"/>
                </a:solidFill>
                <a:latin typeface="Segoe UI"/>
              </a:rPr>
              <a:t>🖥️  Desktop — Terminator MCP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487168"/>
            <a:ext cx="46634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Ovládanie natívnej desktop aplikácie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cez Terminator MCP.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• UI automation nad Windows aplikáciami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• rovnaký scenár, rovnaký report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• žiadny pywinauto, žiadny code-gen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• jednotný delegateToAgentMode tok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9FB2C9"/>
                </a:solidFill>
                <a:latin typeface="Segoe UI"/>
              </a:rPr>
              <a:t>MCP servery sa sťahujú automaticky cez </a:t>
            </a:r>
            <a:r>
              <a:rPr sz="1400" b="1">
                <a:solidFill>
                  <a:srgbClr val="3AD0B0"/>
                </a:solidFill>
                <a:latin typeface="Segoe UI"/>
              </a:rPr>
              <a:t>npx</a:t>
            </a:r>
            <a:r>
              <a:rPr sz="1400" b="0">
                <a:solidFill>
                  <a:srgbClr val="9FB2C9"/>
                </a:solidFill>
                <a:latin typeface="Segoe UI"/>
              </a:rPr>
              <a:t> pri prvom spustení testu — netreba nič inštalovať ručne.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9FB2C9"/>
                </a:solidFill>
                <a:latin typeface="Segoe UI"/>
              </a:rPr>
              <a:t>Autotest Agent  ·  v0.7.1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9FB2C9"/>
                </a:solidFill>
                <a:latin typeface="Segoe U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868680"/>
          </a:xfrm>
          <a:prstGeom prst="rect">
            <a:avLst/>
          </a:prstGeom>
          <a:solidFill>
            <a:srgbClr val="00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09CC4"/>
                </a:solidFill>
                <a:latin typeface="Segoe UI"/>
              </a:rPr>
              <a:t>INTEGRÁCIA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2F6FB"/>
                </a:solidFill>
                <a:latin typeface="Segoe UI"/>
              </a:rPr>
              <a:t>TFS / Azure DevOps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009CC4"/>
                </a:solidFill>
                <a:latin typeface="Segoe UI"/>
              </a:rPr>
              <a:t>▸  </a:t>
            </a:r>
            <a:r>
              <a:rPr sz="1600" b="1">
                <a:solidFill>
                  <a:srgbClr val="F2F6FB"/>
                </a:solidFill>
                <a:latin typeface="Segoe UI"/>
              </a:rPr>
              <a:t>Import bugov. </a:t>
            </a:r>
            <a:r>
              <a:rPr sz="1600" b="0">
                <a:solidFill>
                  <a:srgbClr val="9FB2C9"/>
                </a:solidFill>
                <a:latin typeface="Segoe UI"/>
              </a:rPr>
              <a:t>Sekcia „TFS bugy" načíta pridelené work items (stavy Proposed, Active).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009CC4"/>
                </a:solidFill>
                <a:latin typeface="Segoe UI"/>
              </a:rPr>
              <a:t>▸  </a:t>
            </a:r>
            <a:r>
              <a:rPr sz="1600" b="1">
                <a:solidFill>
                  <a:srgbClr val="F2F6FB"/>
                </a:solidFill>
                <a:latin typeface="Segoe UI"/>
              </a:rPr>
              <a:t>Test z bugu jedným klikom. </a:t>
            </a:r>
            <a:r>
              <a:rPr sz="1600" b="0">
                <a:solidFill>
                  <a:srgbClr val="9FB2C9"/>
                </a:solidFill>
                <a:latin typeface="Segoe UI"/>
              </a:rPr>
              <a:t>Scenár sa vygeneruje z popisu bugu → bug_&lt;id&gt;.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009CC4"/>
                </a:solidFill>
                <a:latin typeface="Segoe UI"/>
              </a:rPr>
              <a:t>▸  </a:t>
            </a:r>
            <a:r>
              <a:rPr sz="1600" b="1">
                <a:solidFill>
                  <a:srgbClr val="F2F6FB"/>
                </a:solidFill>
                <a:latin typeface="Segoe UI"/>
              </a:rPr>
              <a:t>Zvýraznenie hotových. </a:t>
            </a:r>
            <a:r>
              <a:rPr sz="1600" b="0">
                <a:solidFill>
                  <a:srgbClr val="9FB2C9"/>
                </a:solidFill>
                <a:latin typeface="Segoe UI"/>
              </a:rPr>
              <a:t>Bug, z ktorého už test existuje, je zlatý + tlačidlo „K testu →".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009CC4"/>
                </a:solidFill>
                <a:latin typeface="Segoe UI"/>
              </a:rPr>
              <a:t>▸  </a:t>
            </a:r>
            <a:r>
              <a:rPr sz="1600" b="1">
                <a:solidFill>
                  <a:srgbClr val="F2F6FB"/>
                </a:solidFill>
                <a:latin typeface="Segoe UI"/>
              </a:rPr>
              <a:t>Upozornenie na neaktuálnosť. </a:t>
            </a:r>
            <a:r>
              <a:rPr sz="1600" b="0">
                <a:solidFill>
                  <a:srgbClr val="9FB2C9"/>
                </a:solidFill>
                <a:latin typeface="Segoe UI"/>
              </a:rPr>
              <a:t>Ak sa bug zmenil, ponúkne regeneráciu scenára.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937760"/>
            <a:ext cx="10515600" cy="1143000"/>
          </a:xfrm>
          <a:prstGeom prst="rect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937760"/>
            <a:ext cx="109728" cy="1143000"/>
          </a:xfrm>
          <a:prstGeom prst="rect">
            <a:avLst/>
          </a:prstGeom>
          <a:solidFill>
            <a:srgbClr val="E6B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074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E6B450"/>
                </a:solidFill>
                <a:latin typeface="Segoe UI"/>
              </a:rPr>
              <a:t>🔐  Bezpečné pripojenie: </a:t>
            </a:r>
            <a:r>
              <a:rPr sz="1500" b="0">
                <a:solidFill>
                  <a:srgbClr val="F2F6FB"/>
                </a:solidFill>
                <a:latin typeface="Segoe UI"/>
              </a:rPr>
              <a:t>organization URL + projekt + PAT (scope Work Items → Read). Token sa ukladá do VS Code Secret Storage — nikdy nie do súboru ani do promptu agenta.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9FB2C9"/>
                </a:solidFill>
                <a:latin typeface="Segoe UI"/>
              </a:rPr>
              <a:t>Autotest Agent  ·  v0.7.1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9FB2C9"/>
                </a:solidFill>
                <a:latin typeface="Segoe U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868680"/>
          </a:xfrm>
          <a:prstGeom prst="rect">
            <a:avLst/>
          </a:prstGeom>
          <a:solidFill>
            <a:srgbClr val="00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09CC4"/>
                </a:solidFill>
                <a:latin typeface="Segoe UI"/>
              </a:rPr>
              <a:t>BEZPEČNOSŤ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2F6FB"/>
                </a:solidFill>
                <a:latin typeface="Segoe UI"/>
              </a:rPr>
              <a:t>Dôvera a kontrola pri automatizácii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5257800" cy="1783080"/>
          </a:xfrm>
          <a:prstGeom prst="rect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5257800" cy="82296"/>
          </a:xfrm>
          <a:prstGeom prst="rect">
            <a:avLst/>
          </a:prstGeom>
          <a:solidFill>
            <a:srgbClr val="00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84248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2F6FB"/>
                </a:solidFill>
                <a:latin typeface="Segoe UI"/>
              </a:rPr>
              <a:t>🔑  Secret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41448"/>
            <a:ext cx="48006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Heslá a PAT tokeny idú do VS Code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Secret Storage — nie do autotest/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ani do git, ani do promptu.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5257800" cy="1783080"/>
          </a:xfrm>
          <a:prstGeom prst="rect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257800" cy="82296"/>
          </a:xfrm>
          <a:prstGeom prst="rect">
            <a:avLst/>
          </a:prstGeom>
          <a:solidFill>
            <a:srgbClr val="E6B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84248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2F6FB"/>
                </a:solidFill>
                <a:latin typeface="Segoe UI"/>
              </a:rPr>
              <a:t>🧩  Workspace-scope auto-approve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41448"/>
            <a:ext cx="48006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Auto-schvaľovanie nástrojov len pre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tento workspace. Ostatné projekty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zostanú s tvojím nastavením.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749040"/>
            <a:ext cx="5257800" cy="1783080"/>
          </a:xfrm>
          <a:prstGeom prst="rect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749040"/>
            <a:ext cx="5257800" cy="82296"/>
          </a:xfrm>
          <a:prstGeom prst="rect">
            <a:avLst/>
          </a:prstGeom>
          <a:solidFill>
            <a:srgbClr val="00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950208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2F6FB"/>
                </a:solidFill>
                <a:latin typeface="Segoe UI"/>
              </a:rPr>
              <a:t>🛡️  Bezpečnostný dialóg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407408"/>
            <a:ext cx="48006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Pri prvom spustení VS Code raz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zobrazí bezpečnostný dialóg pred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povolením agent mode.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749040"/>
            <a:ext cx="5257800" cy="1783080"/>
          </a:xfrm>
          <a:prstGeom prst="rect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749040"/>
            <a:ext cx="5257800" cy="82296"/>
          </a:xfrm>
          <a:prstGeom prst="rect">
            <a:avLst/>
          </a:prstGeom>
          <a:solidFill>
            <a:srgbClr val="E6B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950208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2F6FB"/>
                </a:solidFill>
                <a:latin typeface="Segoe UI"/>
              </a:rPr>
              <a:t>💻  Lokálne MCP servery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407408"/>
            <a:ext cx="48006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Bežia na tvojom stroji cez npx —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používaj len dôveryhodné zdroje.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9FB2C9"/>
                </a:solidFill>
                <a:latin typeface="Segoe UI"/>
              </a:rPr>
              <a:t>Žiadne dáta neodchádzajú navyše.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9FB2C9"/>
                </a:solidFill>
                <a:latin typeface="Segoe UI"/>
              </a:rPr>
              <a:t>Autotest Agent  ·  v0.7.1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9FB2C9"/>
                </a:solidFill>
                <a:latin typeface="Segoe U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AD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0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09CC4"/>
                </a:solidFill>
                <a:latin typeface="Segoe UI"/>
              </a:rPr>
              <a:t>ZHRNUTIE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800" b="1">
                <a:solidFill>
                  <a:srgbClr val="F2F6FB"/>
                </a:solidFill>
                <a:latin typeface="Segoe UI"/>
              </a:rPr>
              <a:t>Testovanie, ktoré appku naozaj používa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009CC4"/>
                </a:solidFill>
                <a:latin typeface="Segoe UI"/>
              </a:rPr>
              <a:t>▸  </a:t>
            </a:r>
            <a:r>
              <a:rPr sz="1700" b="0">
                <a:solidFill>
                  <a:srgbClr val="F2F6FB"/>
                </a:solidFill>
                <a:latin typeface="Segoe UI"/>
              </a:rPr>
              <a:t>Bez krehkých skriptov — agent klika ako človek a vizuálne overuje.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009CC4"/>
                </a:solidFill>
                <a:latin typeface="Segoe UI"/>
              </a:rPr>
              <a:t>▸  </a:t>
            </a:r>
            <a:r>
              <a:rPr sz="1700" b="0">
                <a:solidFill>
                  <a:srgbClr val="F2F6FB"/>
                </a:solidFill>
                <a:latin typeface="Segoe UI"/>
              </a:rPr>
              <a:t>Web aj desktop cez jednotný MCP tok (Playwright / Terminator).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009CC4"/>
                </a:solidFill>
                <a:latin typeface="Segoe UI"/>
              </a:rPr>
              <a:t>▸  </a:t>
            </a:r>
            <a:r>
              <a:rPr sz="1700" b="0">
                <a:solidFill>
                  <a:srgbClr val="F2F6FB"/>
                </a:solidFill>
                <a:latin typeface="Segoe UI"/>
              </a:rPr>
              <a:t>Test z TFS bugu jedným klikom, jeden jasný verdikt so screenshotmi.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009CC4"/>
                </a:solidFill>
                <a:latin typeface="Segoe UI"/>
              </a:rPr>
              <a:t>▸  </a:t>
            </a:r>
            <a:r>
              <a:rPr sz="1700" b="0">
                <a:solidFill>
                  <a:srgbClr val="F2F6FB"/>
                </a:solidFill>
                <a:latin typeface="Segoe UI"/>
              </a:rPr>
              <a:t>Bezpečné: tokeny v Secret Storage, auto-approve len pre workspace.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009CC4"/>
                </a:solidFill>
                <a:latin typeface="Segoe UI"/>
              </a:rPr>
              <a:t>▸  </a:t>
            </a:r>
            <a:r>
              <a:rPr sz="1700" b="0">
                <a:solidFill>
                  <a:srgbClr val="F2F6FB"/>
                </a:solidFill>
                <a:latin typeface="Segoe UI"/>
              </a:rPr>
              <a:t>Beží vo VS Code v GitHub Copilot agent mode — nič navyše netreba.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349240"/>
            <a:ext cx="10332720" cy="868680"/>
          </a:xfrm>
          <a:prstGeom prst="rect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103327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3AD0B0"/>
                </a:solidFill>
                <a:latin typeface="Segoe UI"/>
              </a:rPr>
              <a:t>Vyskúšaj:  </a:t>
            </a:r>
            <a:r>
              <a:rPr sz="1600" b="0">
                <a:solidFill>
                  <a:srgbClr val="F2F6FB"/>
                </a:solidFill>
                <a:latin typeface="Segoe UI"/>
              </a:rPr>
              <a:t>nainštaluj autotest-agent-0.7.1.vsix  →  otvor panel Autotest  →  Inicializovať projekt  →  +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9FB2C9"/>
                </a:solidFill>
                <a:latin typeface="Segoe UI"/>
              </a:rPr>
              <a:t>Autotest Agent  ·  v0.7.1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9FB2C9"/>
                </a:solidFill>
                <a:latin typeface="Segoe U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